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Water level</c:v>
                </c:pt>
              </c:strCache>
            </c:strRef>
          </c:tx>
          <c:spPr>
            <a:solidFill>
              <a:srgbClr val="2BD4C8"/>
            </a:solidFill>
            <a:ln w="28575" cap="flat">
              <a:solidFill>
                <a:srgbClr val="2BD4C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BD4C8"/>
              </a:solidFill>
              <a:ln w="9525" cap="flat">
                <a:solidFill>
                  <a:srgbClr val="2BD4C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T0</c:v>
                  </c:pt>
                  <c:pt idx="1">
                    <c:v>T1</c:v>
                  </c:pt>
                  <c:pt idx="2">
                    <c:v>T2</c:v>
                  </c:pt>
                  <c:pt idx="3">
                    <c:v>T3</c:v>
                  </c:pt>
                  <c:pt idx="4">
                    <c:v>T4</c:v>
                  </c:pt>
                  <c:pt idx="5">
                    <c:v>T5</c:v>
                  </c:pt>
                  <c:pt idx="6">
                    <c:v>T6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1.4</c:v>
                </c:pt>
                <c:pt idx="2">
                  <c:v>2.1</c:v>
                </c:pt>
                <c:pt idx="3">
                  <c:v>3.4</c:v>
                </c:pt>
                <c:pt idx="4">
                  <c:v>4.6</c:v>
                </c:pt>
                <c:pt idx="5">
                  <c:v>3</c:v>
                </c:pt>
                <c:pt idx="6">
                  <c:v>1.6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F7B9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F7B9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32A4C"/>
        </a:solidFill>
        <a:ln>
          <a:noFill/>
        </a:ln>
        <a:effectLst/>
      </c:spPr>
    </c:plotArea>
    <c:plotVisOnly val="1"/>
    <c:dispBlanksAs val="span"/>
  </c:chart>
  <c:spPr>
    <a:solidFill>
      <a:srgbClr val="132A4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LUXORA_MASTER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2.png"/><Relationship Id="rId5" Type="http://schemas.openxmlformats.org/officeDocument/2006/relationships/image" Target="../media/image-1-5.png"/><Relationship Id="rId6" Type="http://schemas.openxmlformats.org/officeDocument/2006/relationships/image" Target="../media/image-1-2.png"/><Relationship Id="rId7" Type="http://schemas.openxmlformats.org/officeDocument/2006/relationships/image" Target="../media/image-1-7.png"/><Relationship Id="rId8" Type="http://schemas.openxmlformats.org/officeDocument/2006/relationships/image" Target="../media/image-1-2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2.png"/><Relationship Id="rId5" Type="http://schemas.openxmlformats.org/officeDocument/2006/relationships/image" Target="../media/image-2-5.png"/><Relationship Id="rId6" Type="http://schemas.openxmlformats.org/officeDocument/2006/relationships/image" Target="../media/image-2-2.png"/><Relationship Id="rId7" Type="http://schemas.openxmlformats.org/officeDocument/2006/relationships/image" Target="../media/image-2-7.png"/><Relationship Id="rId8" Type="http://schemas.openxmlformats.org/officeDocument/2006/relationships/image" Target="../media/image-2-2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2.png"/><Relationship Id="rId5" Type="http://schemas.openxmlformats.org/officeDocument/2006/relationships/image" Target="../media/image-3-5.png"/><Relationship Id="rId6" Type="http://schemas.openxmlformats.org/officeDocument/2006/relationships/image" Target="../media/image-3-2.png"/><Relationship Id="rId7" Type="http://schemas.openxmlformats.org/officeDocument/2006/relationships/image" Target="../media/image-3-7.png"/><Relationship Id="rId8" Type="http://schemas.openxmlformats.org/officeDocument/2006/relationships/image" Target="../media/image-3-2.png"/><Relationship Id="rId9" Type="http://schemas.openxmlformats.org/officeDocument/2006/relationships/image" Target="../media/image-3-9.png"/><Relationship Id="rId10" Type="http://schemas.openxmlformats.org/officeDocument/2006/relationships/image" Target="../media/image-3-2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9.png"/><Relationship Id="rId20" Type="http://schemas.openxmlformats.org/officeDocument/2006/relationships/image" Target="../media/image-3-11.png"/><Relationship Id="rId21" Type="http://schemas.openxmlformats.org/officeDocument/2006/relationships/slideLayout" Target="../slideLayouts/slideLayout2.xml"/><Relationship Id="rId2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4-1.png"/><Relationship Id="rId3" Type="http://schemas.openxmlformats.org/officeDocument/2006/relationships/image" Target="../media/image-4-2.png"/><Relationship Id="rId4" Type="http://schemas.openxmlformats.org/officeDocument/2006/relationships/image" Target="../media/image-4-3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2B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FLUXORA  ·  THE CRISIS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138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THE RAINFALL SPIKES,
</a:t>
            </a:r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BD4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CITY DOESN'T GET A WARNING.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drainage systems can shift from normal operation to flood risk rapidly during intense monsoon rainfall.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62940" y="3040380"/>
            <a:ext cx="777240" cy="777240"/>
          </a:xfrm>
          <a:prstGeom prst="ellipse">
            <a:avLst/>
          </a:prstGeom>
          <a:solidFill>
            <a:srgbClr val="132A4C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6" name="Image 0" descr="/home/claude/fluxora/icons/cloudrain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3234690"/>
            <a:ext cx="388620" cy="3886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" y="394106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RAIN</a:t>
            </a:r>
            <a:endParaRPr lang="en-US" sz="1100" dirty="0"/>
          </a:p>
        </p:txBody>
      </p:sp>
      <p:pic>
        <p:nvPicPr>
          <p:cNvPr id="8" name="Image 1" descr="/home/claude/fluxora/icons/arrow_mut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5129" y="3291840"/>
            <a:ext cx="274320" cy="27432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184398" y="3040380"/>
            <a:ext cx="777240" cy="777240"/>
          </a:xfrm>
          <a:prstGeom prst="ellipse">
            <a:avLst/>
          </a:prstGeom>
          <a:solidFill>
            <a:srgbClr val="132A4C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0" name="Image 2" descr="/home/claude/fluxora/icons/activity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8708" y="3234690"/>
            <a:ext cx="388620" cy="3886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658618" y="394106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DRAINAGE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OVERLOAD</a:t>
            </a:r>
            <a:endParaRPr lang="en-US" sz="1100" dirty="0"/>
          </a:p>
        </p:txBody>
      </p:sp>
      <p:pic>
        <p:nvPicPr>
          <p:cNvPr id="12" name="Image 3" descr="/home/claude/fluxora/icons/arrow_mut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6587" y="3291840"/>
            <a:ext cx="274320" cy="27432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5705856" y="3040380"/>
            <a:ext cx="777240" cy="777240"/>
          </a:xfrm>
          <a:prstGeom prst="ellipse">
            <a:avLst/>
          </a:prstGeom>
          <a:solidFill>
            <a:srgbClr val="132A4C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4" name="Image 4" descr="/home/claude/fluxora/icons/alert_cya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0166" y="3234690"/>
            <a:ext cx="388620" cy="38862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180076" y="394106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BLOCKAGE</a:t>
            </a:r>
            <a:endParaRPr lang="en-US" sz="1100" dirty="0"/>
          </a:p>
        </p:txBody>
      </p:sp>
      <p:pic>
        <p:nvPicPr>
          <p:cNvPr id="16" name="Image 5" descr="/home/claude/fluxora/icons/arrow_mut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8045" y="3291840"/>
            <a:ext cx="274320" cy="274320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8227314" y="3040380"/>
            <a:ext cx="777240" cy="777240"/>
          </a:xfrm>
          <a:prstGeom prst="ellipse">
            <a:avLst/>
          </a:prstGeom>
          <a:solidFill>
            <a:srgbClr val="132A4C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8" name="Image 6" descr="/home/claude/fluxora/icons/trend_cya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1624" y="3234690"/>
            <a:ext cx="388620" cy="38862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7701534" y="394106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WATER</a:t>
            </a:r>
            <a:endParaRPr lang="en-US" sz="1100" dirty="0"/>
          </a:p>
        </p:txBody>
      </p:sp>
      <p:pic>
        <p:nvPicPr>
          <p:cNvPr id="20" name="Image 7" descr="/home/claude/fluxora/icons/arrow_mut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39503" y="3291840"/>
            <a:ext cx="274320" cy="274320"/>
          </a:xfrm>
          <a:prstGeom prst="rect">
            <a:avLst/>
          </a:prstGeom>
        </p:spPr>
      </p:pic>
      <p:sp>
        <p:nvSpPr>
          <p:cNvPr id="21" name="Shape 11"/>
          <p:cNvSpPr/>
          <p:nvPr/>
        </p:nvSpPr>
        <p:spPr>
          <a:xfrm>
            <a:off x="10748772" y="3040380"/>
            <a:ext cx="777240" cy="777240"/>
          </a:xfrm>
          <a:prstGeom prst="ellipse">
            <a:avLst/>
          </a:prstGeom>
          <a:solidFill>
            <a:srgbClr val="1F1420"/>
          </a:solidFill>
          <a:ln w="12700">
            <a:solidFill>
              <a:srgbClr val="FF5C6C"/>
            </a:solidFill>
            <a:prstDash val="solid"/>
          </a:ln>
        </p:spPr>
      </p:sp>
      <p:pic>
        <p:nvPicPr>
          <p:cNvPr id="22" name="Image 8" descr="/home/claude/fluxora/icons/droplet_dange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43082" y="3234690"/>
            <a:ext cx="388620" cy="388620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10222992" y="394106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 RISK</a:t>
            </a:r>
            <a:endParaRPr lang="en-US" sz="1100" dirty="0"/>
          </a:p>
        </p:txBody>
      </p:sp>
      <p:sp>
        <p:nvSpPr>
          <p:cNvPr id="24" name="Shape 13"/>
          <p:cNvSpPr/>
          <p:nvPr/>
        </p:nvSpPr>
        <p:spPr>
          <a:xfrm>
            <a:off x="548640" y="5074920"/>
            <a:ext cx="3429000" cy="1234440"/>
          </a:xfrm>
          <a:prstGeom prst="roundRect">
            <a:avLst>
              <a:gd name="adj" fmla="val 6667"/>
            </a:avLst>
          </a:prstGeom>
          <a:solidFill>
            <a:srgbClr val="0F23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Shape 14"/>
          <p:cNvSpPr/>
          <p:nvPr/>
        </p:nvSpPr>
        <p:spPr>
          <a:xfrm>
            <a:off x="777240" y="5230368"/>
            <a:ext cx="457200" cy="457200"/>
          </a:xfrm>
          <a:prstGeom prst="ellipse">
            <a:avLst/>
          </a:prstGeom>
          <a:solidFill>
            <a:srgbClr val="132A4C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26" name="Image 9" descr="/home/claude/fluxora/icons/eye_cyan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1540" y="5344668"/>
            <a:ext cx="228600" cy="228600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1371600" y="522122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VISIBILITY</a:t>
            </a:r>
            <a:endParaRPr lang="en-US" sz="1250" dirty="0"/>
          </a:p>
        </p:txBody>
      </p:sp>
      <p:sp>
        <p:nvSpPr>
          <p:cNvPr id="28" name="Text 16"/>
          <p:cNvSpPr/>
          <p:nvPr/>
        </p:nvSpPr>
        <p:spPr>
          <a:xfrm>
            <a:off x="804672" y="5696712"/>
            <a:ext cx="2916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Drainage conditions are hard to see as a single, connected picture.</a:t>
            </a:r>
            <a:endParaRPr lang="en-US" sz="1050" dirty="0"/>
          </a:p>
        </p:txBody>
      </p:sp>
      <p:sp>
        <p:nvSpPr>
          <p:cNvPr id="29" name="Shape 17"/>
          <p:cNvSpPr/>
          <p:nvPr/>
        </p:nvSpPr>
        <p:spPr>
          <a:xfrm>
            <a:off x="4297680" y="5074920"/>
            <a:ext cx="3429000" cy="1234440"/>
          </a:xfrm>
          <a:prstGeom prst="roundRect">
            <a:avLst>
              <a:gd name="adj" fmla="val 6667"/>
            </a:avLst>
          </a:prstGeom>
          <a:solidFill>
            <a:srgbClr val="0F23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Shape 18"/>
          <p:cNvSpPr/>
          <p:nvPr/>
        </p:nvSpPr>
        <p:spPr>
          <a:xfrm>
            <a:off x="4526280" y="5230368"/>
            <a:ext cx="457200" cy="457200"/>
          </a:xfrm>
          <a:prstGeom prst="ellipse">
            <a:avLst/>
          </a:prstGeom>
          <a:solidFill>
            <a:srgbClr val="132A4C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31" name="Image 10" descr="/home/claude/fluxora/icons/clock2_cyan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40580" y="5344668"/>
            <a:ext cx="228600" cy="228600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5120640" y="522122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RESPONSE</a:t>
            </a:r>
            <a:endParaRPr lang="en-US" sz="1250" dirty="0"/>
          </a:p>
        </p:txBody>
      </p:sp>
      <p:sp>
        <p:nvSpPr>
          <p:cNvPr id="33" name="Text 20"/>
          <p:cNvSpPr/>
          <p:nvPr/>
        </p:nvSpPr>
        <p:spPr>
          <a:xfrm>
            <a:off x="4553712" y="5696712"/>
            <a:ext cx="2916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is typically taken after risk is already visible, not before.</a:t>
            </a:r>
            <a:endParaRPr lang="en-US" sz="1050" dirty="0"/>
          </a:p>
        </p:txBody>
      </p:sp>
      <p:sp>
        <p:nvSpPr>
          <p:cNvPr id="34" name="Shape 21"/>
          <p:cNvSpPr/>
          <p:nvPr/>
        </p:nvSpPr>
        <p:spPr>
          <a:xfrm>
            <a:off x="8046720" y="5074920"/>
            <a:ext cx="3429000" cy="1234440"/>
          </a:xfrm>
          <a:prstGeom prst="roundRect">
            <a:avLst>
              <a:gd name="adj" fmla="val 6667"/>
            </a:avLst>
          </a:prstGeom>
          <a:solidFill>
            <a:srgbClr val="0F23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Shape 22"/>
          <p:cNvSpPr/>
          <p:nvPr/>
        </p:nvSpPr>
        <p:spPr>
          <a:xfrm>
            <a:off x="8275320" y="5230368"/>
            <a:ext cx="457200" cy="457200"/>
          </a:xfrm>
          <a:prstGeom prst="ellipse">
            <a:avLst/>
          </a:prstGeom>
          <a:solidFill>
            <a:srgbClr val="132A4C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36" name="Image 11" descr="/home/claude/fluxora/icons/shield_cyan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89620" y="5344668"/>
            <a:ext cx="228600" cy="228600"/>
          </a:xfrm>
          <a:prstGeom prst="rect">
            <a:avLst/>
          </a:prstGeom>
        </p:spPr>
      </p:pic>
      <p:sp>
        <p:nvSpPr>
          <p:cNvPr id="37" name="Text 23"/>
          <p:cNvSpPr/>
          <p:nvPr/>
        </p:nvSpPr>
        <p:spPr>
          <a:xfrm>
            <a:off x="8869680" y="522122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TIME TO ACT</a:t>
            </a:r>
            <a:endParaRPr lang="en-US" sz="1250" dirty="0"/>
          </a:p>
        </p:txBody>
      </p:sp>
      <p:sp>
        <p:nvSpPr>
          <p:cNvPr id="38" name="Text 24"/>
          <p:cNvSpPr/>
          <p:nvPr/>
        </p:nvSpPr>
        <p:spPr>
          <a:xfrm>
            <a:off x="8302752" y="5696712"/>
            <a:ext cx="2916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window between rising water and critical levels can close fast.</a:t>
            </a:r>
            <a:endParaRPr lang="en-US" sz="1050" dirty="0"/>
          </a:p>
        </p:txBody>
      </p:sp>
      <p:sp>
        <p:nvSpPr>
          <p:cNvPr id="39" name="Text 25"/>
          <p:cNvSpPr/>
          <p:nvPr/>
        </p:nvSpPr>
        <p:spPr>
          <a:xfrm>
            <a:off x="548640" y="65288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F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FLUXORA</a:t>
            </a:r>
            <a:endParaRPr lang="en-US" sz="900" dirty="0"/>
          </a:p>
        </p:txBody>
      </p:sp>
      <p:sp>
        <p:nvSpPr>
          <p:cNvPr id="40" name="Text 26"/>
          <p:cNvSpPr/>
          <p:nvPr/>
        </p:nvSpPr>
        <p:spPr>
          <a:xfrm>
            <a:off x="8899855" y="65288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5F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PREDICT.  WARN.  ACT.</a:t>
            </a:r>
            <a:endParaRPr lang="en-US" sz="900" dirty="0"/>
          </a:p>
        </p:txBody>
      </p:sp>
      <p:sp>
        <p:nvSpPr>
          <p:cNvPr id="41" name="Text 27"/>
          <p:cNvSpPr/>
          <p:nvPr/>
        </p:nvSpPr>
        <p:spPr>
          <a:xfrm>
            <a:off x="5638648" y="65288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2B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FLUXORA  ·  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</a:t>
            </a:r>
            <a:pPr indent="0" marL="0">
              <a:buNone/>
            </a:pPr>
            <a:r>
              <a:rPr lang="en-US" sz="3800" b="1" dirty="0">
                <a:solidFill>
                  <a:srgbClr val="2BD4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FLUXORA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44475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predictive urban flood intelligence platform that turns drainage telemetry into early warnings and coordinated action.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1975104" cy="2514600"/>
          </a:xfrm>
          <a:prstGeom prst="roundRect">
            <a:avLst>
              <a:gd name="adj" fmla="val 3704"/>
            </a:avLst>
          </a:prstGeom>
          <a:solidFill>
            <a:srgbClr val="0F23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52728" y="2551176"/>
            <a:ext cx="566928" cy="566928"/>
          </a:xfrm>
          <a:prstGeom prst="ellipse">
            <a:avLst/>
          </a:prstGeom>
          <a:solidFill>
            <a:srgbClr val="132A4C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7" name="Image 0" descr="/home/claude/fluxora/icons/radio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4460" y="2692908"/>
            <a:ext cx="283464" cy="2834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227832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13232" y="3575304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rainfall, water level, blockage and drainage conditions.</a:t>
            </a:r>
            <a:endParaRPr lang="en-US" sz="1000" dirty="0"/>
          </a:p>
        </p:txBody>
      </p:sp>
      <p:pic>
        <p:nvPicPr>
          <p:cNvPr id="10" name="Image 1" descr="/home/claude/fluxora/icons/arrow_mut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0028" y="2734056"/>
            <a:ext cx="201168" cy="20116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697480" y="2331720"/>
            <a:ext cx="1975104" cy="2514600"/>
          </a:xfrm>
          <a:prstGeom prst="roundRect">
            <a:avLst>
              <a:gd name="adj" fmla="val 3704"/>
            </a:avLst>
          </a:prstGeom>
          <a:solidFill>
            <a:srgbClr val="132A4C"/>
          </a:solidFill>
          <a:ln w="15875">
            <a:solidFill>
              <a:srgbClr val="1A8F87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401568" y="2551176"/>
            <a:ext cx="566928" cy="566928"/>
          </a:xfrm>
          <a:prstGeom prst="ellipse">
            <a:avLst/>
          </a:prstGeom>
          <a:solidFill>
            <a:srgbClr val="132A4C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3" name="Image 2" descr="/home/claude/fluxora/icons/cpu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3300" y="2692908"/>
            <a:ext cx="283464" cy="28346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788920" y="3227832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2862072" y="3575304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flood risk and time-to-threshold.</a:t>
            </a:r>
            <a:endParaRPr lang="en-US" sz="1000" dirty="0"/>
          </a:p>
        </p:txBody>
      </p:sp>
      <p:pic>
        <p:nvPicPr>
          <p:cNvPr id="16" name="Image 3" descr="/home/claude/fluxora/icons/arrow_mut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8868" y="2734056"/>
            <a:ext cx="201168" cy="201168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846320" y="2331720"/>
            <a:ext cx="1975104" cy="2514600"/>
          </a:xfrm>
          <a:prstGeom prst="roundRect">
            <a:avLst>
              <a:gd name="adj" fmla="val 3704"/>
            </a:avLst>
          </a:prstGeom>
          <a:solidFill>
            <a:srgbClr val="0F23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5550408" y="2551176"/>
            <a:ext cx="566928" cy="566928"/>
          </a:xfrm>
          <a:prstGeom prst="ellipse">
            <a:avLst/>
          </a:prstGeom>
          <a:solidFill>
            <a:srgbClr val="132A4C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9" name="Image 4" descr="/home/claude/fluxora/icons/bell_cya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2140" y="2692908"/>
            <a:ext cx="283464" cy="28346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937760" y="3227832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5010912" y="3575304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location-aware risk alerts.</a:t>
            </a:r>
            <a:endParaRPr lang="en-US" sz="1000" dirty="0"/>
          </a:p>
        </p:txBody>
      </p:sp>
      <p:pic>
        <p:nvPicPr>
          <p:cNvPr id="22" name="Image 5" descr="/home/claude/fluxora/icons/arrow_mut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7708" y="2734056"/>
            <a:ext cx="201168" cy="201168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6995160" y="2331720"/>
            <a:ext cx="1975104" cy="2514600"/>
          </a:xfrm>
          <a:prstGeom prst="roundRect">
            <a:avLst>
              <a:gd name="adj" fmla="val 3704"/>
            </a:avLst>
          </a:prstGeom>
          <a:solidFill>
            <a:srgbClr val="0F23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16"/>
          <p:cNvSpPr/>
          <p:nvPr/>
        </p:nvSpPr>
        <p:spPr>
          <a:xfrm>
            <a:off x="7699248" y="2551176"/>
            <a:ext cx="566928" cy="566928"/>
          </a:xfrm>
          <a:prstGeom prst="ellipse">
            <a:avLst/>
          </a:prstGeom>
          <a:solidFill>
            <a:srgbClr val="132A4C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25" name="Image 6" descr="/home/claude/fluxora/icons/zap_cya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40980" y="2692908"/>
            <a:ext cx="283464" cy="283464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7086600" y="3227832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400" dirty="0"/>
          </a:p>
        </p:txBody>
      </p:sp>
      <p:sp>
        <p:nvSpPr>
          <p:cNvPr id="27" name="Text 18"/>
          <p:cNvSpPr/>
          <p:nvPr/>
        </p:nvSpPr>
        <p:spPr>
          <a:xfrm>
            <a:off x="7159752" y="3575304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simulated mitigation through pumps and gates.</a:t>
            </a:r>
            <a:endParaRPr lang="en-US" sz="1000" dirty="0"/>
          </a:p>
        </p:txBody>
      </p:sp>
      <p:pic>
        <p:nvPicPr>
          <p:cNvPr id="28" name="Image 7" descr="/home/claude/fluxora/icons/arrow_mut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56548" y="2734056"/>
            <a:ext cx="201168" cy="201168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9144000" y="2331720"/>
            <a:ext cx="1975104" cy="2514600"/>
          </a:xfrm>
          <a:prstGeom prst="roundRect">
            <a:avLst>
              <a:gd name="adj" fmla="val 3704"/>
            </a:avLst>
          </a:prstGeom>
          <a:solidFill>
            <a:srgbClr val="0F23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Shape 20"/>
          <p:cNvSpPr/>
          <p:nvPr/>
        </p:nvSpPr>
        <p:spPr>
          <a:xfrm>
            <a:off x="9848088" y="2551176"/>
            <a:ext cx="566928" cy="566928"/>
          </a:xfrm>
          <a:prstGeom prst="ellipse">
            <a:avLst/>
          </a:prstGeom>
          <a:solidFill>
            <a:srgbClr val="132A4C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31" name="Image 8" descr="/home/claude/fluxora/icons/refresh_cyan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89820" y="2692908"/>
            <a:ext cx="283464" cy="283464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9235440" y="3227832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</a:t>
            </a:r>
            <a:endParaRPr lang="en-US" sz="1400" dirty="0"/>
          </a:p>
        </p:txBody>
      </p:sp>
      <p:sp>
        <p:nvSpPr>
          <p:cNvPr id="33" name="Text 22"/>
          <p:cNvSpPr/>
          <p:nvPr/>
        </p:nvSpPr>
        <p:spPr>
          <a:xfrm>
            <a:off x="9308592" y="3575304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the system until conditions return to safe levels.</a:t>
            </a:r>
            <a:endParaRPr lang="en-US" sz="1000" dirty="0"/>
          </a:p>
        </p:txBody>
      </p:sp>
      <p:sp>
        <p:nvSpPr>
          <p:cNvPr id="34" name="Text 23"/>
          <p:cNvSpPr/>
          <p:nvPr/>
        </p:nvSpPr>
        <p:spPr>
          <a:xfrm>
            <a:off x="548640" y="5212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spc="100" kern="0" dirty="0">
                <a:solidFill>
                  <a:srgbClr val="2BD4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FLOOD MONITORING TO FLOOD RESPONSE</a:t>
            </a:r>
            <a:endParaRPr lang="en-US" sz="1900" dirty="0"/>
          </a:p>
        </p:txBody>
      </p:sp>
      <p:sp>
        <p:nvSpPr>
          <p:cNvPr id="35" name="Text 24"/>
          <p:cNvSpPr/>
          <p:nvPr/>
        </p:nvSpPr>
        <p:spPr>
          <a:xfrm>
            <a:off x="548640" y="58064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F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Fluxora prototype — hackathon build</a:t>
            </a:r>
            <a:endParaRPr lang="en-US" sz="1050" dirty="0"/>
          </a:p>
        </p:txBody>
      </p:sp>
      <p:sp>
        <p:nvSpPr>
          <p:cNvPr id="36" name="Text 25"/>
          <p:cNvSpPr/>
          <p:nvPr/>
        </p:nvSpPr>
        <p:spPr>
          <a:xfrm>
            <a:off x="548640" y="65288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F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FLUXORA</a:t>
            </a:r>
            <a:endParaRPr lang="en-US" sz="900" dirty="0"/>
          </a:p>
        </p:txBody>
      </p:sp>
      <p:sp>
        <p:nvSpPr>
          <p:cNvPr id="37" name="Text 26"/>
          <p:cNvSpPr/>
          <p:nvPr/>
        </p:nvSpPr>
        <p:spPr>
          <a:xfrm>
            <a:off x="8899855" y="65288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5F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PREDICT.  WARN.  ACT.</a:t>
            </a:r>
            <a:endParaRPr lang="en-US" sz="900" dirty="0"/>
          </a:p>
        </p:txBody>
      </p:sp>
      <p:sp>
        <p:nvSpPr>
          <p:cNvPr id="38" name="Text 27"/>
          <p:cNvSpPr/>
          <p:nvPr/>
        </p:nvSpPr>
        <p:spPr>
          <a:xfrm>
            <a:off x="5638648" y="65288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2B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FLUXORA  ·  SYSTEM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TELEMETRY TO DECISION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39496" y="1545336"/>
            <a:ext cx="658368" cy="658368"/>
          </a:xfrm>
          <a:prstGeom prst="ellipse">
            <a:avLst/>
          </a:prstGeom>
          <a:solidFill>
            <a:srgbClr val="132A4C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5" name="Image 0" descr="/home/claude/fluxora/icons/radio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70992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" y="229514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</a:t>
            </a:r>
            <a:endParaRPr lang="en-US" sz="950" dirty="0"/>
          </a:p>
        </p:txBody>
      </p:sp>
      <p:pic>
        <p:nvPicPr>
          <p:cNvPr id="7" name="Image 1" descr="/home/claude/fluxora/icons/arrow_mut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216" y="1764792"/>
            <a:ext cx="219456" cy="21945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478024" y="1545336"/>
            <a:ext cx="658368" cy="658368"/>
          </a:xfrm>
          <a:prstGeom prst="ellipse">
            <a:avLst/>
          </a:prstGeom>
          <a:solidFill>
            <a:srgbClr val="132A4C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9" name="Image 2" descr="/home/claude/fluxora/icons/layers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2616" y="1709928"/>
            <a:ext cx="329184" cy="32918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029968" y="229514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950" dirty="0"/>
          </a:p>
        </p:txBody>
      </p:sp>
      <p:pic>
        <p:nvPicPr>
          <p:cNvPr id="11" name="Image 3" descr="/home/claude/fluxora/icons/arrow_mut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6744" y="1764792"/>
            <a:ext cx="219456" cy="219456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4416552" y="1545336"/>
            <a:ext cx="658368" cy="658368"/>
          </a:xfrm>
          <a:prstGeom prst="ellipse">
            <a:avLst/>
          </a:prstGeom>
          <a:solidFill>
            <a:srgbClr val="132A4C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3" name="Image 4" descr="/home/claude/fluxora/icons/activity_cya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1144" y="1709928"/>
            <a:ext cx="329184" cy="32918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3968496" y="229514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950" dirty="0"/>
          </a:p>
        </p:txBody>
      </p:sp>
      <p:pic>
        <p:nvPicPr>
          <p:cNvPr id="15" name="Image 5" descr="/home/claude/fluxora/icons/arrow_mut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5272" y="1764792"/>
            <a:ext cx="219456" cy="219456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6355080" y="1545336"/>
            <a:ext cx="658368" cy="658368"/>
          </a:xfrm>
          <a:prstGeom prst="ellipse">
            <a:avLst/>
          </a:prstGeom>
          <a:solidFill>
            <a:srgbClr val="132A4C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7" name="Image 6" descr="/home/claude/fluxora/icons/cpu_cya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9672" y="1709928"/>
            <a:ext cx="329184" cy="329184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5907024" y="229514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950" dirty="0"/>
          </a:p>
        </p:txBody>
      </p:sp>
      <p:pic>
        <p:nvPicPr>
          <p:cNvPr id="19" name="Image 7" descr="/home/claude/fluxora/icons/arrow_mut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43800" y="1764792"/>
            <a:ext cx="219456" cy="219456"/>
          </a:xfrm>
          <a:prstGeom prst="rect">
            <a:avLst/>
          </a:prstGeom>
        </p:spPr>
      </p:pic>
      <p:sp>
        <p:nvSpPr>
          <p:cNvPr id="20" name="Shape 10"/>
          <p:cNvSpPr/>
          <p:nvPr/>
        </p:nvSpPr>
        <p:spPr>
          <a:xfrm>
            <a:off x="8293608" y="1545336"/>
            <a:ext cx="658368" cy="658368"/>
          </a:xfrm>
          <a:prstGeom prst="ellipse">
            <a:avLst/>
          </a:prstGeom>
          <a:solidFill>
            <a:srgbClr val="132A4C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21" name="Image 8" descr="/home/claude/fluxora/icons/bell_cyan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58200" y="1709928"/>
            <a:ext cx="329184" cy="329184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7845552" y="229514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950" dirty="0"/>
          </a:p>
        </p:txBody>
      </p:sp>
      <p:pic>
        <p:nvPicPr>
          <p:cNvPr id="23" name="Image 9" descr="/home/claude/fluxora/icons/arrow_mut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82328" y="1764792"/>
            <a:ext cx="219456" cy="219456"/>
          </a:xfrm>
          <a:prstGeom prst="rect">
            <a:avLst/>
          </a:prstGeom>
        </p:spPr>
      </p:pic>
      <p:sp>
        <p:nvSpPr>
          <p:cNvPr id="24" name="Shape 12"/>
          <p:cNvSpPr/>
          <p:nvPr/>
        </p:nvSpPr>
        <p:spPr>
          <a:xfrm>
            <a:off x="10232136" y="1545336"/>
            <a:ext cx="658368" cy="658368"/>
          </a:xfrm>
          <a:prstGeom prst="ellipse">
            <a:avLst/>
          </a:prstGeom>
          <a:solidFill>
            <a:srgbClr val="132A4C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25" name="Image 10" descr="/home/claude/fluxora/icons/sliders_cyan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96728" y="1709928"/>
            <a:ext cx="329184" cy="329184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9784080" y="229514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950" dirty="0"/>
          </a:p>
        </p:txBody>
      </p:sp>
      <p:sp>
        <p:nvSpPr>
          <p:cNvPr id="27" name="Shape 14"/>
          <p:cNvSpPr/>
          <p:nvPr/>
        </p:nvSpPr>
        <p:spPr>
          <a:xfrm>
            <a:off x="11064240" y="1682496"/>
            <a:ext cx="1170432" cy="384048"/>
          </a:xfrm>
          <a:prstGeom prst="roundRect">
            <a:avLst>
              <a:gd name="adj" fmla="val 50000"/>
            </a:avLst>
          </a:prstGeom>
          <a:solidFill>
            <a:srgbClr val="0E2A24"/>
          </a:solidFill>
          <a:ln w="12700">
            <a:solidFill>
              <a:srgbClr val="1A8F87"/>
            </a:solidFill>
            <a:prstDash val="solid"/>
          </a:ln>
        </p:spPr>
      </p:sp>
      <p:sp>
        <p:nvSpPr>
          <p:cNvPr id="28" name="Text 15"/>
          <p:cNvSpPr/>
          <p:nvPr/>
        </p:nvSpPr>
        <p:spPr>
          <a:xfrm>
            <a:off x="11064240" y="1682496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↺</a:t>
            </a:r>
            <a:endParaRPr lang="en-US" sz="950" dirty="0"/>
          </a:p>
        </p:txBody>
      </p:sp>
      <p:sp>
        <p:nvSpPr>
          <p:cNvPr id="29" name="Shape 16"/>
          <p:cNvSpPr/>
          <p:nvPr/>
        </p:nvSpPr>
        <p:spPr>
          <a:xfrm>
            <a:off x="548640" y="3063240"/>
            <a:ext cx="5257800" cy="2880360"/>
          </a:xfrm>
          <a:prstGeom prst="roundRect">
            <a:avLst>
              <a:gd name="adj" fmla="val 2540"/>
            </a:avLst>
          </a:prstGeom>
          <a:solidFill>
            <a:srgbClr val="0F23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17"/>
          <p:cNvSpPr/>
          <p:nvPr/>
        </p:nvSpPr>
        <p:spPr>
          <a:xfrm>
            <a:off x="868680" y="3291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B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INPUTS</a:t>
            </a:r>
            <a:endParaRPr lang="en-US" sz="1300" dirty="0"/>
          </a:p>
        </p:txBody>
      </p:sp>
      <p:sp>
        <p:nvSpPr>
          <p:cNvPr id="31" name="Shape 18"/>
          <p:cNvSpPr/>
          <p:nvPr/>
        </p:nvSpPr>
        <p:spPr>
          <a:xfrm>
            <a:off x="905256" y="3877056"/>
            <a:ext cx="512064" cy="512064"/>
          </a:xfrm>
          <a:prstGeom prst="ellipse">
            <a:avLst/>
          </a:prstGeom>
          <a:solidFill>
            <a:srgbClr val="132A4C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32" name="Image 11" descr="/home/claude/fluxora/icons/cloudrain_cyan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33272" y="4005072"/>
            <a:ext cx="256032" cy="256032"/>
          </a:xfrm>
          <a:prstGeom prst="rect">
            <a:avLst/>
          </a:prstGeom>
        </p:spPr>
      </p:pic>
      <p:sp>
        <p:nvSpPr>
          <p:cNvPr id="33" name="Text 19"/>
          <p:cNvSpPr/>
          <p:nvPr/>
        </p:nvSpPr>
        <p:spPr>
          <a:xfrm>
            <a:off x="1490472" y="39684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</a:t>
            </a:r>
            <a:endParaRPr lang="en-US" sz="1200" dirty="0"/>
          </a:p>
        </p:txBody>
      </p:sp>
      <p:sp>
        <p:nvSpPr>
          <p:cNvPr id="34" name="Shape 20"/>
          <p:cNvSpPr/>
          <p:nvPr/>
        </p:nvSpPr>
        <p:spPr>
          <a:xfrm>
            <a:off x="3419856" y="3877056"/>
            <a:ext cx="512064" cy="512064"/>
          </a:xfrm>
          <a:prstGeom prst="ellipse">
            <a:avLst/>
          </a:prstGeom>
          <a:solidFill>
            <a:srgbClr val="132A4C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35" name="Image 12" descr="/home/claude/fluxora/icons/droplet_cyan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47872" y="4005072"/>
            <a:ext cx="256032" cy="256032"/>
          </a:xfrm>
          <a:prstGeom prst="rect">
            <a:avLst/>
          </a:prstGeom>
        </p:spPr>
      </p:pic>
      <p:sp>
        <p:nvSpPr>
          <p:cNvPr id="36" name="Text 21"/>
          <p:cNvSpPr/>
          <p:nvPr/>
        </p:nvSpPr>
        <p:spPr>
          <a:xfrm>
            <a:off x="4005072" y="39684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LEVEL</a:t>
            </a:r>
            <a:endParaRPr lang="en-US" sz="1200" dirty="0"/>
          </a:p>
        </p:txBody>
      </p:sp>
      <p:sp>
        <p:nvSpPr>
          <p:cNvPr id="37" name="Shape 22"/>
          <p:cNvSpPr/>
          <p:nvPr/>
        </p:nvSpPr>
        <p:spPr>
          <a:xfrm>
            <a:off x="905256" y="4837176"/>
            <a:ext cx="512064" cy="512064"/>
          </a:xfrm>
          <a:prstGeom prst="ellipse">
            <a:avLst/>
          </a:prstGeom>
          <a:solidFill>
            <a:srgbClr val="132A4C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38" name="Image 13" descr="/home/claude/fluxora/icons/alert_cyan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33272" y="4965192"/>
            <a:ext cx="256032" cy="256032"/>
          </a:xfrm>
          <a:prstGeom prst="rect">
            <a:avLst/>
          </a:prstGeom>
        </p:spPr>
      </p:pic>
      <p:sp>
        <p:nvSpPr>
          <p:cNvPr id="39" name="Text 23"/>
          <p:cNvSpPr/>
          <p:nvPr/>
        </p:nvSpPr>
        <p:spPr>
          <a:xfrm>
            <a:off x="1490472" y="492861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BLOCKAGE</a:t>
            </a:r>
            <a:endParaRPr lang="en-US" sz="1200" dirty="0"/>
          </a:p>
        </p:txBody>
      </p:sp>
      <p:sp>
        <p:nvSpPr>
          <p:cNvPr id="40" name="Shape 24"/>
          <p:cNvSpPr/>
          <p:nvPr/>
        </p:nvSpPr>
        <p:spPr>
          <a:xfrm>
            <a:off x="3419856" y="4837176"/>
            <a:ext cx="512064" cy="512064"/>
          </a:xfrm>
          <a:prstGeom prst="ellipse">
            <a:avLst/>
          </a:prstGeom>
          <a:solidFill>
            <a:srgbClr val="132A4C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41" name="Image 14" descr="/home/claude/fluxora/icons/trend_cyan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547872" y="4965192"/>
            <a:ext cx="256032" cy="256032"/>
          </a:xfrm>
          <a:prstGeom prst="rect">
            <a:avLst/>
          </a:prstGeom>
        </p:spPr>
      </p:pic>
      <p:sp>
        <p:nvSpPr>
          <p:cNvPr id="42" name="Text 25"/>
          <p:cNvSpPr/>
          <p:nvPr/>
        </p:nvSpPr>
        <p:spPr>
          <a:xfrm>
            <a:off x="4005072" y="492861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OF RISE</a:t>
            </a:r>
            <a:endParaRPr lang="en-US" sz="1200" dirty="0"/>
          </a:p>
        </p:txBody>
      </p:sp>
      <p:sp>
        <p:nvSpPr>
          <p:cNvPr id="43" name="Shape 26"/>
          <p:cNvSpPr/>
          <p:nvPr/>
        </p:nvSpPr>
        <p:spPr>
          <a:xfrm>
            <a:off x="6080760" y="3063240"/>
            <a:ext cx="5559552" cy="2880360"/>
          </a:xfrm>
          <a:prstGeom prst="roundRect">
            <a:avLst>
              <a:gd name="adj" fmla="val 2540"/>
            </a:avLst>
          </a:prstGeom>
          <a:solidFill>
            <a:srgbClr val="0F23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4" name="Text 27"/>
          <p:cNvSpPr/>
          <p:nvPr/>
        </p:nvSpPr>
        <p:spPr>
          <a:xfrm>
            <a:off x="6400800" y="3291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B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OUTPUTS</a:t>
            </a:r>
            <a:endParaRPr lang="en-US" sz="1300" dirty="0"/>
          </a:p>
        </p:txBody>
      </p:sp>
      <p:sp>
        <p:nvSpPr>
          <p:cNvPr id="45" name="Shape 28"/>
          <p:cNvSpPr/>
          <p:nvPr/>
        </p:nvSpPr>
        <p:spPr>
          <a:xfrm>
            <a:off x="6528816" y="3776472"/>
            <a:ext cx="329184" cy="329184"/>
          </a:xfrm>
          <a:prstGeom prst="ellipse">
            <a:avLst/>
          </a:prstGeom>
          <a:solidFill>
            <a:srgbClr val="132A4C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46" name="Image 15" descr="/home/claude/fluxora/icons/target_cyan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11112" y="3858768"/>
            <a:ext cx="164592" cy="164592"/>
          </a:xfrm>
          <a:prstGeom prst="rect">
            <a:avLst/>
          </a:prstGeom>
        </p:spPr>
      </p:pic>
      <p:sp>
        <p:nvSpPr>
          <p:cNvPr id="47" name="Text 29"/>
          <p:cNvSpPr/>
          <p:nvPr/>
        </p:nvSpPr>
        <p:spPr>
          <a:xfrm>
            <a:off x="6967728" y="378561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1150" dirty="0"/>
          </a:p>
        </p:txBody>
      </p:sp>
      <p:sp>
        <p:nvSpPr>
          <p:cNvPr id="48" name="Shape 30"/>
          <p:cNvSpPr/>
          <p:nvPr/>
        </p:nvSpPr>
        <p:spPr>
          <a:xfrm>
            <a:off x="6528816" y="4178808"/>
            <a:ext cx="329184" cy="329184"/>
          </a:xfrm>
          <a:prstGeom prst="ellipse">
            <a:avLst/>
          </a:prstGeom>
          <a:solidFill>
            <a:srgbClr val="132A4C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49" name="Image 16" descr="/home/claude/fluxora/icons/clock_cyan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11112" y="4261104"/>
            <a:ext cx="164592" cy="164592"/>
          </a:xfrm>
          <a:prstGeom prst="rect">
            <a:avLst/>
          </a:prstGeom>
        </p:spPr>
      </p:pic>
      <p:sp>
        <p:nvSpPr>
          <p:cNvPr id="50" name="Text 31"/>
          <p:cNvSpPr/>
          <p:nvPr/>
        </p:nvSpPr>
        <p:spPr>
          <a:xfrm>
            <a:off x="6967728" y="4187952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threshold</a:t>
            </a:r>
            <a:endParaRPr lang="en-US" sz="1150" dirty="0"/>
          </a:p>
        </p:txBody>
      </p:sp>
      <p:sp>
        <p:nvSpPr>
          <p:cNvPr id="51" name="Shape 32"/>
          <p:cNvSpPr/>
          <p:nvPr/>
        </p:nvSpPr>
        <p:spPr>
          <a:xfrm>
            <a:off x="6528816" y="4581144"/>
            <a:ext cx="329184" cy="329184"/>
          </a:xfrm>
          <a:prstGeom prst="ellipse">
            <a:avLst/>
          </a:prstGeom>
          <a:solidFill>
            <a:srgbClr val="132A4C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52" name="Image 17" descr="/home/claude/fluxora/icons/barchart_cyan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11112" y="4663440"/>
            <a:ext cx="164592" cy="164592"/>
          </a:xfrm>
          <a:prstGeom prst="rect">
            <a:avLst/>
          </a:prstGeom>
        </p:spPr>
      </p:pic>
      <p:sp>
        <p:nvSpPr>
          <p:cNvPr id="53" name="Text 33"/>
          <p:cNvSpPr/>
          <p:nvPr/>
        </p:nvSpPr>
        <p:spPr>
          <a:xfrm>
            <a:off x="6967728" y="459028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endParaRPr lang="en-US" sz="1150" dirty="0"/>
          </a:p>
        </p:txBody>
      </p:sp>
      <p:sp>
        <p:nvSpPr>
          <p:cNvPr id="54" name="Shape 34"/>
          <p:cNvSpPr/>
          <p:nvPr/>
        </p:nvSpPr>
        <p:spPr>
          <a:xfrm>
            <a:off x="6528816" y="4983480"/>
            <a:ext cx="329184" cy="329184"/>
          </a:xfrm>
          <a:prstGeom prst="ellipse">
            <a:avLst/>
          </a:prstGeom>
          <a:solidFill>
            <a:srgbClr val="132A4C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55" name="Image 18" descr="/home/claude/fluxora/icons/bell_cyan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611112" y="5065776"/>
            <a:ext cx="164592" cy="164592"/>
          </a:xfrm>
          <a:prstGeom prst="rect">
            <a:avLst/>
          </a:prstGeom>
        </p:spPr>
      </p:pic>
      <p:sp>
        <p:nvSpPr>
          <p:cNvPr id="56" name="Text 35"/>
          <p:cNvSpPr/>
          <p:nvPr/>
        </p:nvSpPr>
        <p:spPr>
          <a:xfrm>
            <a:off x="6967728" y="4992624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150" dirty="0"/>
          </a:p>
        </p:txBody>
      </p:sp>
      <p:sp>
        <p:nvSpPr>
          <p:cNvPr id="57" name="Shape 36"/>
          <p:cNvSpPr/>
          <p:nvPr/>
        </p:nvSpPr>
        <p:spPr>
          <a:xfrm>
            <a:off x="6528816" y="5385816"/>
            <a:ext cx="329184" cy="329184"/>
          </a:xfrm>
          <a:prstGeom prst="ellipse">
            <a:avLst/>
          </a:prstGeom>
          <a:solidFill>
            <a:srgbClr val="132A4C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58" name="Image 19" descr="/home/claude/fluxora/icons/sliders_cyan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611112" y="5468112"/>
            <a:ext cx="164592" cy="164592"/>
          </a:xfrm>
          <a:prstGeom prst="rect">
            <a:avLst/>
          </a:prstGeom>
        </p:spPr>
      </p:pic>
      <p:sp>
        <p:nvSpPr>
          <p:cNvPr id="59" name="Text 37"/>
          <p:cNvSpPr/>
          <p:nvPr/>
        </p:nvSpPr>
        <p:spPr>
          <a:xfrm>
            <a:off x="6967728" y="539496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 / gate action</a:t>
            </a:r>
            <a:endParaRPr lang="en-US" sz="1150" dirty="0"/>
          </a:p>
        </p:txBody>
      </p:sp>
      <p:sp>
        <p:nvSpPr>
          <p:cNvPr id="60" name="Text 38"/>
          <p:cNvSpPr/>
          <p:nvPr/>
        </p:nvSpPr>
        <p:spPr>
          <a:xfrm>
            <a:off x="548640" y="605332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5F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prototype uses synthetic telemetry to demonstrate the decision pipeline. The telemetry layer is designed to be replaceable with real IoT sensor data.</a:t>
            </a:r>
            <a:endParaRPr lang="en-US" sz="1050" dirty="0"/>
          </a:p>
        </p:txBody>
      </p:sp>
      <p:sp>
        <p:nvSpPr>
          <p:cNvPr id="61" name="Text 39"/>
          <p:cNvSpPr/>
          <p:nvPr/>
        </p:nvSpPr>
        <p:spPr>
          <a:xfrm>
            <a:off x="548640" y="65288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F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FLUXORA</a:t>
            </a:r>
            <a:endParaRPr lang="en-US" sz="900" dirty="0"/>
          </a:p>
        </p:txBody>
      </p:sp>
      <p:sp>
        <p:nvSpPr>
          <p:cNvPr id="62" name="Text 40"/>
          <p:cNvSpPr/>
          <p:nvPr/>
        </p:nvSpPr>
        <p:spPr>
          <a:xfrm>
            <a:off x="8899855" y="65288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5F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PREDICT.  WARN.  ACT.</a:t>
            </a:r>
            <a:endParaRPr lang="en-US" sz="900" dirty="0"/>
          </a:p>
        </p:txBody>
      </p:sp>
      <p:sp>
        <p:nvSpPr>
          <p:cNvPr id="63" name="Text 41"/>
          <p:cNvSpPr/>
          <p:nvPr/>
        </p:nvSpPr>
        <p:spPr>
          <a:xfrm>
            <a:off x="5638648" y="65288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2B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FLUXORA  ·  LIVE DEMO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FLUXORA RESPOND TO A FLOOD EVENT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84048" cy="384048"/>
          </a:xfrm>
          <a:prstGeom prst="ellipse">
            <a:avLst/>
          </a:prstGeom>
          <a:solidFill>
            <a:srgbClr val="132A4C"/>
          </a:solidFill>
          <a:ln w="15875">
            <a:solidFill>
              <a:srgbClr val="1A8F8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40664" y="1865376"/>
            <a:ext cx="0" cy="274320"/>
          </a:xfrm>
          <a:prstGeom prst="line">
            <a:avLst/>
          </a:prstGeom>
          <a:noFill/>
          <a:ln w="15875">
            <a:solidFill>
              <a:srgbClr val="1E3A5F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1115568" y="145389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15568" y="1728216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7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low · Risk: Nominal</a:t>
            </a:r>
            <a:endParaRPr lang="en-US" sz="970" dirty="0"/>
          </a:p>
        </p:txBody>
      </p:sp>
      <p:sp>
        <p:nvSpPr>
          <p:cNvPr id="9" name="Shape 7"/>
          <p:cNvSpPr/>
          <p:nvPr/>
        </p:nvSpPr>
        <p:spPr>
          <a:xfrm>
            <a:off x="548640" y="2139696"/>
            <a:ext cx="384048" cy="384048"/>
          </a:xfrm>
          <a:prstGeom prst="ellipse">
            <a:avLst/>
          </a:prstGeom>
          <a:solidFill>
            <a:srgbClr val="132A4C"/>
          </a:solidFill>
          <a:ln w="15875">
            <a:solidFill>
              <a:srgbClr val="1A8F8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139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40664" y="2523744"/>
            <a:ext cx="0" cy="274320"/>
          </a:xfrm>
          <a:prstGeom prst="line">
            <a:avLst/>
          </a:prstGeom>
          <a:noFill/>
          <a:ln w="15875">
            <a:solidFill>
              <a:srgbClr val="1E3A5F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1115568" y="211226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MONSOON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15568" y="2386584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7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and water level rise</a:t>
            </a:r>
            <a:endParaRPr lang="en-US" sz="970" dirty="0"/>
          </a:p>
        </p:txBody>
      </p:sp>
      <p:sp>
        <p:nvSpPr>
          <p:cNvPr id="14" name="Shape 12"/>
          <p:cNvSpPr/>
          <p:nvPr/>
        </p:nvSpPr>
        <p:spPr>
          <a:xfrm>
            <a:off x="548640" y="2798064"/>
            <a:ext cx="384048" cy="384048"/>
          </a:xfrm>
          <a:prstGeom prst="ellipse">
            <a:avLst/>
          </a:prstGeom>
          <a:solidFill>
            <a:srgbClr val="132A4C"/>
          </a:solidFill>
          <a:ln w="15875">
            <a:solidFill>
              <a:srgbClr val="1A8F8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798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0664" y="3182112"/>
            <a:ext cx="0" cy="274320"/>
          </a:xfrm>
          <a:prstGeom prst="line">
            <a:avLst/>
          </a:prstGeom>
          <a:noFill/>
          <a:ln w="15875">
            <a:solidFill>
              <a:srgbClr val="1E3A5F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115568" y="277063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 BLOCKAGE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15568" y="3044952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7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drainage falls · risk increases</a:t>
            </a:r>
            <a:endParaRPr lang="en-US" sz="970" dirty="0"/>
          </a:p>
        </p:txBody>
      </p:sp>
      <p:sp>
        <p:nvSpPr>
          <p:cNvPr id="19" name="Shape 17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rgbClr val="2A1220"/>
          </a:solidFill>
          <a:ln w="15875">
            <a:solidFill>
              <a:srgbClr val="FF5C6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456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5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40664" y="3840480"/>
            <a:ext cx="0" cy="274320"/>
          </a:xfrm>
          <a:prstGeom prst="line">
            <a:avLst/>
          </a:prstGeom>
          <a:noFill/>
          <a:ln w="15875">
            <a:solidFill>
              <a:srgbClr val="1E3A5F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1115568" y="34290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15568" y="370332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7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Time-to-threshold falls · alert generated</a:t>
            </a:r>
            <a:endParaRPr lang="en-US" sz="970" dirty="0"/>
          </a:p>
        </p:txBody>
      </p:sp>
      <p:sp>
        <p:nvSpPr>
          <p:cNvPr id="24" name="Shape 22"/>
          <p:cNvSpPr/>
          <p:nvPr/>
        </p:nvSpPr>
        <p:spPr>
          <a:xfrm>
            <a:off x="548640" y="4114800"/>
            <a:ext cx="384048" cy="384048"/>
          </a:xfrm>
          <a:prstGeom prst="ellipse">
            <a:avLst/>
          </a:prstGeom>
          <a:solidFill>
            <a:srgbClr val="132A4C"/>
          </a:solidFill>
          <a:ln w="15875">
            <a:solidFill>
              <a:srgbClr val="1A8F8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40664" y="4498848"/>
            <a:ext cx="0" cy="274320"/>
          </a:xfrm>
          <a:prstGeom prst="line">
            <a:avLst/>
          </a:prstGeom>
          <a:noFill/>
          <a:ln w="15875">
            <a:solidFill>
              <a:srgbClr val="1E3A5F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115568" y="408736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MITIGATION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15568" y="436168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7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 active · gate open</a:t>
            </a:r>
            <a:endParaRPr lang="en-US" sz="970" dirty="0"/>
          </a:p>
        </p:txBody>
      </p:sp>
      <p:sp>
        <p:nvSpPr>
          <p:cNvPr id="29" name="Shape 27"/>
          <p:cNvSpPr/>
          <p:nvPr/>
        </p:nvSpPr>
        <p:spPr>
          <a:xfrm>
            <a:off x="548640" y="4773168"/>
            <a:ext cx="384048" cy="384048"/>
          </a:xfrm>
          <a:prstGeom prst="ellipse">
            <a:avLst/>
          </a:prstGeom>
          <a:solidFill>
            <a:srgbClr val="132A4C"/>
          </a:solidFill>
          <a:ln w="15875">
            <a:solidFill>
              <a:srgbClr val="1A8F8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773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15568" y="474573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115568" y="5020056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7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level falls · risk returns to nominal</a:t>
            </a:r>
            <a:endParaRPr lang="en-US" sz="970" dirty="0"/>
          </a:p>
        </p:txBody>
      </p:sp>
      <p:sp>
        <p:nvSpPr>
          <p:cNvPr id="33" name="Shape 31"/>
          <p:cNvSpPr/>
          <p:nvPr/>
        </p:nvSpPr>
        <p:spPr>
          <a:xfrm>
            <a:off x="4160520" y="1481328"/>
            <a:ext cx="7479792" cy="4343400"/>
          </a:xfrm>
          <a:prstGeom prst="roundRect">
            <a:avLst>
              <a:gd name="adj" fmla="val 1895"/>
            </a:avLst>
          </a:prstGeom>
          <a:solidFill>
            <a:srgbClr val="0F23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53128" y="168249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FLUXORA DASHBOARD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765792" y="1682496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2A1220"/>
          </a:solidFill>
          <a:ln w="12700">
            <a:solidFill>
              <a:srgbClr val="FF5C6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765792" y="1682496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5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ELEVATED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453128" y="2194560"/>
            <a:ext cx="4828032" cy="1965960"/>
          </a:xfrm>
          <a:prstGeom prst="roundRect">
            <a:avLst>
              <a:gd name="adj" fmla="val 2791"/>
            </a:avLst>
          </a:prstGeom>
          <a:solidFill>
            <a:srgbClr val="132A4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36008" y="2304288"/>
            <a:ext cx="4462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LEVEL TREND — ILLUSTRATIVE</a:t>
            </a:r>
            <a:endParaRPr lang="en-US" sz="900" dirty="0"/>
          </a:p>
        </p:txBody>
      </p:sp>
      <p:graphicFrame>
        <p:nvGraphicFramePr>
          <p:cNvPr id="39" name="Chart 0" descr=""/>
          <p:cNvGraphicFramePr/>
          <p:nvPr/>
        </p:nvGraphicFramePr>
        <p:xfrm>
          <a:off x="4590288" y="2578608"/>
          <a:ext cx="4553712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0" name="Shape 37"/>
          <p:cNvSpPr/>
          <p:nvPr/>
        </p:nvSpPr>
        <p:spPr>
          <a:xfrm>
            <a:off x="9491472" y="2194560"/>
            <a:ext cx="1874520" cy="868680"/>
          </a:xfrm>
          <a:prstGeom prst="roundRect">
            <a:avLst>
              <a:gd name="adj" fmla="val 6316"/>
            </a:avLst>
          </a:prstGeom>
          <a:solidFill>
            <a:srgbClr val="132A4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9628632" y="230428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THRESHOLD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9628632" y="254203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T-04:12</a:t>
            </a:r>
            <a:endParaRPr lang="en-US" sz="2000" dirty="0"/>
          </a:p>
        </p:txBody>
      </p:sp>
      <p:sp>
        <p:nvSpPr>
          <p:cNvPr id="43" name="Shape 40"/>
          <p:cNvSpPr/>
          <p:nvPr/>
        </p:nvSpPr>
        <p:spPr>
          <a:xfrm>
            <a:off x="9491472" y="3200400"/>
            <a:ext cx="1874520" cy="868680"/>
          </a:xfrm>
          <a:prstGeom prst="roundRect">
            <a:avLst>
              <a:gd name="adj" fmla="val 6316"/>
            </a:avLst>
          </a:prstGeom>
          <a:solidFill>
            <a:srgbClr val="132A4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628632" y="331012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628632" y="354787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5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</a:t>
            </a:r>
            <a:endParaRPr lang="en-US" sz="2000" dirty="0"/>
          </a:p>
        </p:txBody>
      </p:sp>
      <p:sp>
        <p:nvSpPr>
          <p:cNvPr id="46" name="Shape 43"/>
          <p:cNvSpPr/>
          <p:nvPr/>
        </p:nvSpPr>
        <p:spPr>
          <a:xfrm>
            <a:off x="4453128" y="4434840"/>
            <a:ext cx="2788920" cy="566928"/>
          </a:xfrm>
          <a:prstGeom prst="roundRect">
            <a:avLst>
              <a:gd name="adj" fmla="val 50000"/>
            </a:avLst>
          </a:prstGeom>
          <a:solidFill>
            <a:srgbClr val="0E2A24"/>
          </a:solidFill>
          <a:ln w="12700">
            <a:solidFill>
              <a:srgbClr val="1A8F87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4636008" y="4535424"/>
            <a:ext cx="365760" cy="365760"/>
          </a:xfrm>
          <a:prstGeom prst="ellipse">
            <a:avLst/>
          </a:prstGeom>
          <a:solidFill>
            <a:srgbClr val="0E2A24"/>
          </a:solidFill>
          <a:ln w="12700">
            <a:solidFill>
              <a:srgbClr val="1A8F87"/>
            </a:solidFill>
            <a:prstDash val="solid"/>
          </a:ln>
        </p:spPr>
      </p:sp>
      <p:pic>
        <p:nvPicPr>
          <p:cNvPr id="48" name="Image 0" descr="/home/claude/fluxora/icons/sliders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4626864"/>
            <a:ext cx="182880" cy="182880"/>
          </a:xfrm>
          <a:prstGeom prst="rect">
            <a:avLst/>
          </a:prstGeom>
        </p:spPr>
      </p:pic>
      <p:sp>
        <p:nvSpPr>
          <p:cNvPr id="49" name="Text 45"/>
          <p:cNvSpPr/>
          <p:nvPr/>
        </p:nvSpPr>
        <p:spPr>
          <a:xfrm>
            <a:off x="5093208" y="44348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   ACTIVE</a:t>
            </a:r>
            <a:endParaRPr lang="en-US" sz="1200" dirty="0"/>
          </a:p>
        </p:txBody>
      </p:sp>
      <p:sp>
        <p:nvSpPr>
          <p:cNvPr id="50" name="Shape 46"/>
          <p:cNvSpPr/>
          <p:nvPr/>
        </p:nvSpPr>
        <p:spPr>
          <a:xfrm>
            <a:off x="7470648" y="4434840"/>
            <a:ext cx="2788920" cy="566928"/>
          </a:xfrm>
          <a:prstGeom prst="roundRect">
            <a:avLst>
              <a:gd name="adj" fmla="val 50000"/>
            </a:avLst>
          </a:prstGeom>
          <a:solidFill>
            <a:srgbClr val="0E2A24"/>
          </a:solidFill>
          <a:ln w="12700">
            <a:solidFill>
              <a:srgbClr val="1A8F87"/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7653528" y="4535424"/>
            <a:ext cx="365760" cy="365760"/>
          </a:xfrm>
          <a:prstGeom prst="ellipse">
            <a:avLst/>
          </a:prstGeom>
          <a:solidFill>
            <a:srgbClr val="0E2A24"/>
          </a:solidFill>
          <a:ln w="12700">
            <a:solidFill>
              <a:srgbClr val="1A8F87"/>
            </a:solidFill>
            <a:prstDash val="solid"/>
          </a:ln>
        </p:spPr>
      </p:sp>
      <p:pic>
        <p:nvPicPr>
          <p:cNvPr id="52" name="Image 1" descr="/home/claude/fluxora/icons/layers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4968" y="4626864"/>
            <a:ext cx="182880" cy="182880"/>
          </a:xfrm>
          <a:prstGeom prst="rect">
            <a:avLst/>
          </a:prstGeom>
        </p:spPr>
      </p:pic>
      <p:sp>
        <p:nvSpPr>
          <p:cNvPr id="53" name="Text 48"/>
          <p:cNvSpPr/>
          <p:nvPr/>
        </p:nvSpPr>
        <p:spPr>
          <a:xfrm>
            <a:off x="8110728" y="44348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  OPEN</a:t>
            </a:r>
            <a:endParaRPr lang="en-US" sz="1200" dirty="0"/>
          </a:p>
        </p:txBody>
      </p:sp>
      <p:sp>
        <p:nvSpPr>
          <p:cNvPr id="54" name="Shape 49"/>
          <p:cNvSpPr/>
          <p:nvPr/>
        </p:nvSpPr>
        <p:spPr>
          <a:xfrm>
            <a:off x="4453128" y="5303520"/>
            <a:ext cx="3291840" cy="512064"/>
          </a:xfrm>
          <a:prstGeom prst="roundRect">
            <a:avLst>
              <a:gd name="adj" fmla="val 50000"/>
            </a:avLst>
          </a:prstGeom>
          <a:solidFill>
            <a:srgbClr val="2BD4C8"/>
          </a:solidFill>
          <a:ln/>
        </p:spPr>
      </p:sp>
      <p:sp>
        <p:nvSpPr>
          <p:cNvPr id="55" name="Shape 50"/>
          <p:cNvSpPr/>
          <p:nvPr/>
        </p:nvSpPr>
        <p:spPr>
          <a:xfrm rot="5400000">
            <a:off x="4818888" y="5477256"/>
            <a:ext cx="164592" cy="164592"/>
          </a:xfrm>
          <a:prstGeom prst="triangle">
            <a:avLst/>
          </a:prstGeom>
          <a:solidFill>
            <a:srgbClr val="0A1628"/>
          </a:solidFill>
          <a:ln/>
        </p:spPr>
      </p:sp>
      <p:sp>
        <p:nvSpPr>
          <p:cNvPr id="56" name="Text 51"/>
          <p:cNvSpPr/>
          <p:nvPr/>
        </p:nvSpPr>
        <p:spPr>
          <a:xfrm>
            <a:off x="5056632" y="5303520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FLOOD STRESS TEST</a:t>
            </a:r>
            <a:endParaRPr lang="en-US" sz="1150" dirty="0"/>
          </a:p>
        </p:txBody>
      </p:sp>
      <p:sp>
        <p:nvSpPr>
          <p:cNvPr id="57" name="Shape 52"/>
          <p:cNvSpPr/>
          <p:nvPr/>
        </p:nvSpPr>
        <p:spPr>
          <a:xfrm>
            <a:off x="7909560" y="5303520"/>
            <a:ext cx="2468880" cy="512064"/>
          </a:xfrm>
          <a:prstGeom prst="roundRect">
            <a:avLst>
              <a:gd name="adj" fmla="val 50000"/>
            </a:avLst>
          </a:prstGeom>
          <a:ln w="15875">
            <a:solidFill>
              <a:srgbClr val="1E3A5F"/>
            </a:solidFill>
            <a:prstDash val="solid"/>
          </a:ln>
        </p:spPr>
      </p:sp>
      <p:pic>
        <p:nvPicPr>
          <p:cNvPr id="58" name="Image 2" descr="/home/claude/fluxora/icons/rotate_mut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2168" y="5449824"/>
            <a:ext cx="219456" cy="219456"/>
          </a:xfrm>
          <a:prstGeom prst="rect">
            <a:avLst/>
          </a:prstGeom>
        </p:spPr>
      </p:pic>
      <p:sp>
        <p:nvSpPr>
          <p:cNvPr id="59" name="Text 53"/>
          <p:cNvSpPr/>
          <p:nvPr/>
        </p:nvSpPr>
        <p:spPr>
          <a:xfrm>
            <a:off x="8503920" y="5303520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SIMULATION</a:t>
            </a:r>
            <a:endParaRPr lang="en-US" sz="1100" dirty="0"/>
          </a:p>
        </p:txBody>
      </p:sp>
      <p:sp>
        <p:nvSpPr>
          <p:cNvPr id="60" name="Text 54"/>
          <p:cNvSpPr/>
          <p:nvPr/>
        </p:nvSpPr>
        <p:spPr>
          <a:xfrm>
            <a:off x="4453128" y="5907024"/>
            <a:ext cx="6894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F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deterministic simulation</a:t>
            </a:r>
            <a:endParaRPr lang="en-US" sz="950" dirty="0"/>
          </a:p>
        </p:txBody>
      </p:sp>
      <p:sp>
        <p:nvSpPr>
          <p:cNvPr id="61" name="Text 55"/>
          <p:cNvSpPr/>
          <p:nvPr/>
        </p:nvSpPr>
        <p:spPr>
          <a:xfrm>
            <a:off x="548640" y="617220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F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dashboard mockup — replace with live Fluxora screenshot for delivery</a:t>
            </a:r>
            <a:endParaRPr lang="en-US" sz="950" dirty="0"/>
          </a:p>
        </p:txBody>
      </p:sp>
      <p:sp>
        <p:nvSpPr>
          <p:cNvPr id="62" name="Text 56"/>
          <p:cNvSpPr/>
          <p:nvPr/>
        </p:nvSpPr>
        <p:spPr>
          <a:xfrm>
            <a:off x="548640" y="65288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F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FLUXORA</a:t>
            </a:r>
            <a:endParaRPr lang="en-US" sz="900" dirty="0"/>
          </a:p>
        </p:txBody>
      </p:sp>
      <p:sp>
        <p:nvSpPr>
          <p:cNvPr id="63" name="Text 57"/>
          <p:cNvSpPr/>
          <p:nvPr/>
        </p:nvSpPr>
        <p:spPr>
          <a:xfrm>
            <a:off x="8899855" y="65288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5F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PREDICT.  WARN.  ACT.</a:t>
            </a:r>
            <a:endParaRPr lang="en-US" sz="900" dirty="0"/>
          </a:p>
        </p:txBody>
      </p:sp>
      <p:sp>
        <p:nvSpPr>
          <p:cNvPr id="64" name="Text 58"/>
          <p:cNvSpPr/>
          <p:nvPr/>
        </p:nvSpPr>
        <p:spPr>
          <a:xfrm>
            <a:off x="5638648" y="65288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2B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FLUXORA  ·  DIFFERENTIATION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863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DON'T JUST DETECT THE FLOOD.</a:t>
            </a:r>
            <a:endParaRPr lang="en-US" sz="2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IT. RESPOND TO IT.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7647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MONITORING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14400" y="2148840"/>
            <a:ext cx="2651760" cy="530352"/>
          </a:xfrm>
          <a:prstGeom prst="roundRect">
            <a:avLst>
              <a:gd name="adj" fmla="val 12069"/>
            </a:avLst>
          </a:prstGeom>
          <a:solidFill>
            <a:srgbClr val="0F2340"/>
          </a:solidFill>
          <a:ln w="12700">
            <a:solidFill>
              <a:srgbClr val="3A4A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48840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240280" y="2679192"/>
            <a:ext cx="0" cy="246888"/>
          </a:xfrm>
          <a:prstGeom prst="line">
            <a:avLst/>
          </a:prstGeom>
          <a:noFill/>
          <a:ln w="15875">
            <a:solidFill>
              <a:srgbClr val="3A4A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926080"/>
            <a:ext cx="2651760" cy="530352"/>
          </a:xfrm>
          <a:prstGeom prst="roundRect">
            <a:avLst>
              <a:gd name="adj" fmla="val 12069"/>
            </a:avLst>
          </a:prstGeom>
          <a:solidFill>
            <a:srgbClr val="0F2340"/>
          </a:solidFill>
          <a:ln w="12700">
            <a:solidFill>
              <a:srgbClr val="3A4A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926080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240280" y="3456432"/>
            <a:ext cx="0" cy="246888"/>
          </a:xfrm>
          <a:prstGeom prst="line">
            <a:avLst/>
          </a:prstGeom>
          <a:noFill/>
          <a:ln w="15875">
            <a:solidFill>
              <a:srgbClr val="3A4A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3703320"/>
            <a:ext cx="2651760" cy="530352"/>
          </a:xfrm>
          <a:prstGeom prst="roundRect">
            <a:avLst>
              <a:gd name="adj" fmla="val 12069"/>
            </a:avLst>
          </a:prstGeom>
          <a:solidFill>
            <a:srgbClr val="0F2340"/>
          </a:solidFill>
          <a:ln w="12700">
            <a:solidFill>
              <a:srgbClr val="3A4A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703320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Response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794760" y="29260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5F7B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34840" y="17647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2B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FLUXORA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709160" y="2148840"/>
            <a:ext cx="3291840" cy="402336"/>
          </a:xfrm>
          <a:prstGeom prst="roundRect">
            <a:avLst>
              <a:gd name="adj" fmla="val 15909"/>
            </a:avLst>
          </a:prstGeom>
          <a:solidFill>
            <a:srgbClr val="132A4C"/>
          </a:solidFill>
          <a:ln w="12700">
            <a:solidFill>
              <a:srgbClr val="1A8F8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214884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355080" y="2551176"/>
            <a:ext cx="0" cy="114300"/>
          </a:xfrm>
          <a:prstGeom prst="line">
            <a:avLst/>
          </a:prstGeom>
          <a:noFill/>
          <a:ln w="15875">
            <a:solidFill>
              <a:srgbClr val="1A8F8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665476"/>
            <a:ext cx="3291840" cy="402336"/>
          </a:xfrm>
          <a:prstGeom prst="roundRect">
            <a:avLst>
              <a:gd name="adj" fmla="val 15909"/>
            </a:avLst>
          </a:prstGeom>
          <a:solidFill>
            <a:srgbClr val="132A4C"/>
          </a:solidFill>
          <a:ln w="12700">
            <a:solidFill>
              <a:srgbClr val="1A8F8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2665476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55080" y="3067812"/>
            <a:ext cx="0" cy="114300"/>
          </a:xfrm>
          <a:prstGeom prst="line">
            <a:avLst/>
          </a:prstGeom>
          <a:noFill/>
          <a:ln w="15875">
            <a:solidFill>
              <a:srgbClr val="1A8F8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9160" y="3182112"/>
            <a:ext cx="3291840" cy="402336"/>
          </a:xfrm>
          <a:prstGeom prst="roundRect">
            <a:avLst>
              <a:gd name="adj" fmla="val 15909"/>
            </a:avLst>
          </a:prstGeom>
          <a:solidFill>
            <a:srgbClr val="132A4C"/>
          </a:solidFill>
          <a:ln w="12700">
            <a:solidFill>
              <a:srgbClr val="1A8F8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3182112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355080" y="3584448"/>
            <a:ext cx="0" cy="114300"/>
          </a:xfrm>
          <a:prstGeom prst="line">
            <a:avLst/>
          </a:prstGeom>
          <a:noFill/>
          <a:ln w="15875">
            <a:solidFill>
              <a:srgbClr val="1A8F8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698748"/>
            <a:ext cx="3291840" cy="402336"/>
          </a:xfrm>
          <a:prstGeom prst="roundRect">
            <a:avLst>
              <a:gd name="adj" fmla="val 15909"/>
            </a:avLst>
          </a:prstGeom>
          <a:solidFill>
            <a:srgbClr val="132A4C"/>
          </a:solidFill>
          <a:ln w="12700">
            <a:solidFill>
              <a:srgbClr val="1A8F8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3698748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Time-to-Threshold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355080" y="4101084"/>
            <a:ext cx="0" cy="114300"/>
          </a:xfrm>
          <a:prstGeom prst="line">
            <a:avLst/>
          </a:prstGeom>
          <a:noFill/>
          <a:ln w="15875">
            <a:solidFill>
              <a:srgbClr val="1A8F8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09160" y="4215384"/>
            <a:ext cx="3291840" cy="402336"/>
          </a:xfrm>
          <a:prstGeom prst="roundRect">
            <a:avLst>
              <a:gd name="adj" fmla="val 15909"/>
            </a:avLst>
          </a:prstGeom>
          <a:solidFill>
            <a:srgbClr val="132A4C"/>
          </a:solidFill>
          <a:ln w="12700">
            <a:solidFill>
              <a:srgbClr val="1A8F8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4215384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355080" y="4617720"/>
            <a:ext cx="0" cy="114300"/>
          </a:xfrm>
          <a:prstGeom prst="line">
            <a:avLst/>
          </a:prstGeom>
          <a:noFill/>
          <a:ln w="15875">
            <a:solidFill>
              <a:srgbClr val="1A8F8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9160" y="4732020"/>
            <a:ext cx="3291840" cy="402336"/>
          </a:xfrm>
          <a:prstGeom prst="roundRect">
            <a:avLst>
              <a:gd name="adj" fmla="val 15909"/>
            </a:avLst>
          </a:prstGeom>
          <a:solidFill>
            <a:srgbClr val="132A4C"/>
          </a:solidFill>
          <a:ln w="12700">
            <a:solidFill>
              <a:srgbClr val="1A8F8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473202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Mitigate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355080" y="5134356"/>
            <a:ext cx="0" cy="114300"/>
          </a:xfrm>
          <a:prstGeom prst="line">
            <a:avLst/>
          </a:prstGeom>
          <a:noFill/>
          <a:ln w="15875">
            <a:solidFill>
              <a:srgbClr val="1A8F8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09160" y="5248656"/>
            <a:ext cx="3291840" cy="402336"/>
          </a:xfrm>
          <a:prstGeom prst="roundRect">
            <a:avLst>
              <a:gd name="adj" fmla="val 15909"/>
            </a:avLst>
          </a:prstGeom>
          <a:solidFill>
            <a:srgbClr val="132A4C"/>
          </a:solidFill>
          <a:ln w="12700">
            <a:solidFill>
              <a:srgbClr val="1A8F8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5248656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641080" y="2148840"/>
            <a:ext cx="2999232" cy="1115568"/>
          </a:xfrm>
          <a:prstGeom prst="roundRect">
            <a:avLst>
              <a:gd name="adj" fmla="val 6557"/>
            </a:avLst>
          </a:prstGeom>
          <a:solidFill>
            <a:srgbClr val="0F23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60536" y="2295144"/>
            <a:ext cx="475488" cy="475488"/>
          </a:xfrm>
          <a:prstGeom prst="ellipse">
            <a:avLst/>
          </a:prstGeom>
          <a:solidFill>
            <a:srgbClr val="132A4C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37" name="Image 0" descr="/home/claude/fluxora/icons/trend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08" y="2414016"/>
            <a:ext cx="237744" cy="237744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9464040" y="2295144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</a:t>
            </a:r>
            <a:endParaRPr lang="en-US" sz="1250" dirty="0"/>
          </a:p>
        </p:txBody>
      </p:sp>
      <p:sp>
        <p:nvSpPr>
          <p:cNvPr id="39" name="Text 36"/>
          <p:cNvSpPr/>
          <p:nvPr/>
        </p:nvSpPr>
        <p:spPr>
          <a:xfrm>
            <a:off x="8897112" y="2752344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evolves from changing rainfall, water level, blockage and rate of rise.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8641080" y="3447288"/>
            <a:ext cx="2999232" cy="1115568"/>
          </a:xfrm>
          <a:prstGeom prst="roundRect">
            <a:avLst>
              <a:gd name="adj" fmla="val 6557"/>
            </a:avLst>
          </a:prstGeom>
          <a:solidFill>
            <a:srgbClr val="0F23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8860536" y="3593592"/>
            <a:ext cx="475488" cy="475488"/>
          </a:xfrm>
          <a:prstGeom prst="ellipse">
            <a:avLst/>
          </a:prstGeom>
          <a:solidFill>
            <a:srgbClr val="132A4C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42" name="Image 1" descr="/home/claude/fluxora/icons/zap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9408" y="3712464"/>
            <a:ext cx="237744" cy="237744"/>
          </a:xfrm>
          <a:prstGeom prst="rect">
            <a:avLst/>
          </a:prstGeom>
        </p:spPr>
      </p:pic>
      <p:sp>
        <p:nvSpPr>
          <p:cNvPr id="43" name="Text 39"/>
          <p:cNvSpPr/>
          <p:nvPr/>
        </p:nvSpPr>
        <p:spPr>
          <a:xfrm>
            <a:off x="9464040" y="3593592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ACTION-ORIENTED</a:t>
            </a:r>
            <a:endParaRPr lang="en-US" sz="1250" dirty="0"/>
          </a:p>
        </p:txBody>
      </p:sp>
      <p:sp>
        <p:nvSpPr>
          <p:cNvPr id="44" name="Text 40"/>
          <p:cNvSpPr/>
          <p:nvPr/>
        </p:nvSpPr>
        <p:spPr>
          <a:xfrm>
            <a:off x="8897112" y="4050792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thresholds connect directly to simulated pump / gate actions.</a:t>
            </a:r>
            <a:endParaRPr lang="en-US" sz="1000" dirty="0"/>
          </a:p>
        </p:txBody>
      </p:sp>
      <p:sp>
        <p:nvSpPr>
          <p:cNvPr id="45" name="Shape 41"/>
          <p:cNvSpPr/>
          <p:nvPr/>
        </p:nvSpPr>
        <p:spPr>
          <a:xfrm>
            <a:off x="8641080" y="4745736"/>
            <a:ext cx="2999232" cy="1115568"/>
          </a:xfrm>
          <a:prstGeom prst="roundRect">
            <a:avLst>
              <a:gd name="adj" fmla="val 6557"/>
            </a:avLst>
          </a:prstGeom>
          <a:solidFill>
            <a:srgbClr val="0F23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8860536" y="4892040"/>
            <a:ext cx="475488" cy="475488"/>
          </a:xfrm>
          <a:prstGeom prst="ellipse">
            <a:avLst/>
          </a:prstGeom>
          <a:solidFill>
            <a:srgbClr val="132A4C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47" name="Image 2" descr="/home/claude/fluxora/icons/refresh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08" y="5010912"/>
            <a:ext cx="237744" cy="237744"/>
          </a:xfrm>
          <a:prstGeom prst="rect">
            <a:avLst/>
          </a:prstGeom>
        </p:spPr>
      </p:pic>
      <p:sp>
        <p:nvSpPr>
          <p:cNvPr id="48" name="Text 43"/>
          <p:cNvSpPr/>
          <p:nvPr/>
        </p:nvSpPr>
        <p:spPr>
          <a:xfrm>
            <a:off x="9464040" y="4892040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</a:t>
            </a:r>
            <a:endParaRPr lang="en-US" sz="1250" dirty="0"/>
          </a:p>
        </p:txBody>
      </p:sp>
      <p:sp>
        <p:nvSpPr>
          <p:cNvPr id="49" name="Text 44"/>
          <p:cNvSpPr/>
          <p:nvPr/>
        </p:nvSpPr>
        <p:spPr>
          <a:xfrm>
            <a:off x="8897112" y="534924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deterministic stress test demonstrates the full crisis-response cycle on a laptop.</a:t>
            </a:r>
            <a:endParaRPr lang="en-US" sz="1000" dirty="0"/>
          </a:p>
        </p:txBody>
      </p:sp>
      <p:sp>
        <p:nvSpPr>
          <p:cNvPr id="50" name="Text 45"/>
          <p:cNvSpPr/>
          <p:nvPr/>
        </p:nvSpPr>
        <p:spPr>
          <a:xfrm>
            <a:off x="548640" y="61722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2BD4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“Fluxora closes the loop between detection and response.”</a:t>
            </a:r>
            <a:endParaRPr lang="en-US" sz="1600" dirty="0"/>
          </a:p>
        </p:txBody>
      </p:sp>
      <p:sp>
        <p:nvSpPr>
          <p:cNvPr id="51" name="Text 46"/>
          <p:cNvSpPr/>
          <p:nvPr/>
        </p:nvSpPr>
        <p:spPr>
          <a:xfrm>
            <a:off x="548640" y="65288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F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FLUXORA</a:t>
            </a:r>
            <a:endParaRPr lang="en-US" sz="900" dirty="0"/>
          </a:p>
        </p:txBody>
      </p:sp>
      <p:sp>
        <p:nvSpPr>
          <p:cNvPr id="52" name="Text 47"/>
          <p:cNvSpPr/>
          <p:nvPr/>
        </p:nvSpPr>
        <p:spPr>
          <a:xfrm>
            <a:off x="8899855" y="65288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5F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PREDICT.  WARN.  ACT.</a:t>
            </a:r>
            <a:endParaRPr lang="en-US" sz="900" dirty="0"/>
          </a:p>
        </p:txBody>
      </p:sp>
      <p:sp>
        <p:nvSpPr>
          <p:cNvPr id="53" name="Text 48"/>
          <p:cNvSpPr/>
          <p:nvPr/>
        </p:nvSpPr>
        <p:spPr>
          <a:xfrm>
            <a:off x="5638648" y="65288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2B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FLUXORA  ·  TECHNOLOGY &amp;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TODAY. READY FOR REAL-WORLD TELEMETRY.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5349240" cy="3611880"/>
          </a:xfrm>
          <a:prstGeom prst="roundRect">
            <a:avLst>
              <a:gd name="adj" fmla="val 2025"/>
            </a:avLst>
          </a:prstGeom>
          <a:solidFill>
            <a:srgbClr val="0F2340"/>
          </a:solidFill>
          <a:ln w="15875">
            <a:solidFill>
              <a:srgbClr val="1A8F8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499616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B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PROTOTYPE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41248" y="1947672"/>
            <a:ext cx="146304" cy="146304"/>
          </a:xfrm>
          <a:prstGeom prst="ellipse">
            <a:avLst/>
          </a:prstGeom>
          <a:solidFill>
            <a:srgbClr val="2BD4C8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8653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914400" y="2093976"/>
            <a:ext cx="0" cy="114300"/>
          </a:xfrm>
          <a:prstGeom prst="line">
            <a:avLst/>
          </a:prstGeom>
          <a:noFill/>
          <a:ln w="12700">
            <a:solidFill>
              <a:srgbClr val="1A8F8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2235708"/>
            <a:ext cx="146304" cy="146304"/>
          </a:xfrm>
          <a:prstGeom prst="ellipse">
            <a:avLst/>
          </a:prstGeom>
          <a:solidFill>
            <a:srgbClr val="2BD4C8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1534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Fluxora Dashboard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914400" y="2382012"/>
            <a:ext cx="0" cy="114300"/>
          </a:xfrm>
          <a:prstGeom prst="line">
            <a:avLst/>
          </a:prstGeom>
          <a:noFill/>
          <a:ln w="12700">
            <a:solidFill>
              <a:srgbClr val="1A8F8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" y="2523744"/>
            <a:ext cx="146304" cy="146304"/>
          </a:xfrm>
          <a:prstGeom prst="ellipse">
            <a:avLst/>
          </a:prstGeom>
          <a:solidFill>
            <a:srgbClr val="2BD4C8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24414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Engine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914400" y="2670048"/>
            <a:ext cx="0" cy="114300"/>
          </a:xfrm>
          <a:prstGeom prst="line">
            <a:avLst/>
          </a:prstGeom>
          <a:noFill/>
          <a:ln w="12700">
            <a:solidFill>
              <a:srgbClr val="1A8F8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" y="2811780"/>
            <a:ext cx="146304" cy="146304"/>
          </a:xfrm>
          <a:prstGeom prst="ellipse">
            <a:avLst/>
          </a:prstGeom>
          <a:solidFill>
            <a:srgbClr val="2BD4C8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27294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Engine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914400" y="2958084"/>
            <a:ext cx="0" cy="114300"/>
          </a:xfrm>
          <a:prstGeom prst="line">
            <a:avLst/>
          </a:prstGeom>
          <a:noFill/>
          <a:ln w="12700">
            <a:solidFill>
              <a:srgbClr val="1A8F8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1248" y="3099816"/>
            <a:ext cx="146304" cy="146304"/>
          </a:xfrm>
          <a:prstGeom prst="ellipse">
            <a:avLst/>
          </a:prstGeom>
          <a:solidFill>
            <a:srgbClr val="2BD4C8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3017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914400" y="3246120"/>
            <a:ext cx="0" cy="114300"/>
          </a:xfrm>
          <a:prstGeom prst="line">
            <a:avLst/>
          </a:prstGeom>
          <a:noFill/>
          <a:ln w="12700">
            <a:solidFill>
              <a:srgbClr val="1A8F8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1248" y="3387852"/>
            <a:ext cx="146304" cy="146304"/>
          </a:xfrm>
          <a:prstGeom prst="ellipse">
            <a:avLst/>
          </a:prstGeom>
          <a:solidFill>
            <a:srgbClr val="2BD4C8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33055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+ Mitigation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3429000" y="18745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</a:t>
            </a:r>
            <a:endParaRPr lang="en-US" sz="970" dirty="0"/>
          </a:p>
        </p:txBody>
      </p:sp>
      <p:sp>
        <p:nvSpPr>
          <p:cNvPr id="24" name="Text 22"/>
          <p:cNvSpPr/>
          <p:nvPr/>
        </p:nvSpPr>
        <p:spPr>
          <a:xfrm>
            <a:off x="4325112" y="187452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Fluxora web dashboard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3429000" y="220827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Simulation:</a:t>
            </a:r>
            <a:endParaRPr lang="en-US" sz="970" dirty="0"/>
          </a:p>
        </p:txBody>
      </p:sp>
      <p:sp>
        <p:nvSpPr>
          <p:cNvPr id="26" name="Text 24"/>
          <p:cNvSpPr/>
          <p:nvPr/>
        </p:nvSpPr>
        <p:spPr>
          <a:xfrm>
            <a:off x="4325112" y="220827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telemetry engine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3429000" y="25420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</a:t>
            </a:r>
            <a:endParaRPr lang="en-US" sz="970" dirty="0"/>
          </a:p>
        </p:txBody>
      </p:sp>
      <p:sp>
        <p:nvSpPr>
          <p:cNvPr id="28" name="Text 26"/>
          <p:cNvSpPr/>
          <p:nvPr/>
        </p:nvSpPr>
        <p:spPr>
          <a:xfrm>
            <a:off x="4325112" y="254203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weighted flood-risk model</a:t>
            </a:r>
            <a:endParaRPr lang="en-US" sz="930" dirty="0"/>
          </a:p>
        </p:txBody>
      </p:sp>
      <p:sp>
        <p:nvSpPr>
          <p:cNvPr id="29" name="Text 27"/>
          <p:cNvSpPr/>
          <p:nvPr/>
        </p:nvSpPr>
        <p:spPr>
          <a:xfrm>
            <a:off x="3429000" y="28757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Prediction:</a:t>
            </a:r>
            <a:endParaRPr lang="en-US" sz="970" dirty="0"/>
          </a:p>
        </p:txBody>
      </p:sp>
      <p:sp>
        <p:nvSpPr>
          <p:cNvPr id="30" name="Text 28"/>
          <p:cNvSpPr/>
          <p:nvPr/>
        </p:nvSpPr>
        <p:spPr>
          <a:xfrm>
            <a:off x="4325112" y="287578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Water-level trajectory + time-to-threshold</a:t>
            </a:r>
            <a:endParaRPr lang="en-US" sz="930" dirty="0"/>
          </a:p>
        </p:txBody>
      </p:sp>
      <p:sp>
        <p:nvSpPr>
          <p:cNvPr id="31" name="Text 29"/>
          <p:cNvSpPr/>
          <p:nvPr/>
        </p:nvSpPr>
        <p:spPr>
          <a:xfrm>
            <a:off x="3429000" y="320954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Response:</a:t>
            </a:r>
            <a:endParaRPr lang="en-US" sz="970" dirty="0"/>
          </a:p>
        </p:txBody>
      </p:sp>
      <p:sp>
        <p:nvSpPr>
          <p:cNvPr id="32" name="Text 30"/>
          <p:cNvSpPr/>
          <p:nvPr/>
        </p:nvSpPr>
        <p:spPr>
          <a:xfrm>
            <a:off x="4325112" y="320954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alert + simulated pump/gate control</a:t>
            </a:r>
            <a:endParaRPr lang="en-US" sz="930" dirty="0"/>
          </a:p>
        </p:txBody>
      </p:sp>
      <p:sp>
        <p:nvSpPr>
          <p:cNvPr id="33" name="Shape 31"/>
          <p:cNvSpPr/>
          <p:nvPr/>
        </p:nvSpPr>
        <p:spPr>
          <a:xfrm>
            <a:off x="6217920" y="1298448"/>
            <a:ext cx="5422392" cy="3611880"/>
          </a:xfrm>
          <a:prstGeom prst="roundRect">
            <a:avLst>
              <a:gd name="adj" fmla="val 2025"/>
            </a:avLst>
          </a:prstGeom>
          <a:solidFill>
            <a:srgbClr val="0F1E30"/>
          </a:solidFill>
          <a:ln w="15875">
            <a:solidFill>
              <a:srgbClr val="5F7B9C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6510528" y="1499616"/>
            <a:ext cx="4873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· DEPLOYMENT ROADMAP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510528" y="1929384"/>
            <a:ext cx="146304" cy="146304"/>
          </a:xfrm>
          <a:prstGeom prst="ellipse">
            <a:avLst/>
          </a:prstGeom>
          <a:ln w="15875">
            <a:solidFill>
              <a:srgbClr val="F5A62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66560" y="1837944"/>
            <a:ext cx="4507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IoT Sensors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583680" y="2075688"/>
            <a:ext cx="0" cy="192024"/>
          </a:xfrm>
          <a:prstGeom prst="line">
            <a:avLst/>
          </a:prstGeom>
          <a:noFill/>
          <a:ln w="12700">
            <a:solidFill>
              <a:srgbClr val="5F7B9C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6510528" y="2295144"/>
            <a:ext cx="146304" cy="146304"/>
          </a:xfrm>
          <a:prstGeom prst="ellipse">
            <a:avLst/>
          </a:prstGeom>
          <a:ln w="15875">
            <a:solidFill>
              <a:srgbClr val="F5A62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66560" y="2203704"/>
            <a:ext cx="4507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Telemetry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583680" y="2441448"/>
            <a:ext cx="0" cy="192024"/>
          </a:xfrm>
          <a:prstGeom prst="line">
            <a:avLst/>
          </a:prstGeom>
          <a:noFill/>
          <a:ln w="12700">
            <a:solidFill>
              <a:srgbClr val="5F7B9C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6510528" y="2660904"/>
            <a:ext cx="146304" cy="146304"/>
          </a:xfrm>
          <a:prstGeom prst="ellipse">
            <a:avLst/>
          </a:prstGeom>
          <a:ln w="15875">
            <a:solidFill>
              <a:srgbClr val="F5A62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66560" y="2569464"/>
            <a:ext cx="4507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Fluxora Intelligence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583680" y="2807208"/>
            <a:ext cx="0" cy="192024"/>
          </a:xfrm>
          <a:prstGeom prst="line">
            <a:avLst/>
          </a:prstGeom>
          <a:noFill/>
          <a:ln w="12700">
            <a:solidFill>
              <a:srgbClr val="5F7B9C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6510528" y="3026664"/>
            <a:ext cx="146304" cy="146304"/>
          </a:xfrm>
          <a:prstGeom prst="ellipse">
            <a:avLst/>
          </a:prstGeom>
          <a:ln w="15875">
            <a:solidFill>
              <a:srgbClr val="F5A62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66560" y="2935224"/>
            <a:ext cx="4507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/ Infrastructure Systems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510528" y="3474720"/>
            <a:ext cx="4873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FUTURE INTEGRATIONS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510528" y="3803904"/>
            <a:ext cx="2619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ESP32 / water-level sensors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9038844" y="3803904"/>
            <a:ext cx="2619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Rain gauges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510528" y="4114800"/>
            <a:ext cx="2619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Drainage flow sensors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9038844" y="4114800"/>
            <a:ext cx="2619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weather feeds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510528" y="4425696"/>
            <a:ext cx="2619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Municipal control systems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9038844" y="4425696"/>
            <a:ext cx="2619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Emergency notification systems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48640" y="5202936"/>
            <a:ext cx="11091672" cy="1170432"/>
          </a:xfrm>
          <a:prstGeom prst="roundRect">
            <a:avLst>
              <a:gd name="adj" fmla="val 6250"/>
            </a:avLst>
          </a:prstGeom>
          <a:solidFill>
            <a:srgbClr val="132A4C"/>
          </a:solidFill>
          <a:ln w="12700">
            <a:solidFill>
              <a:srgbClr val="1A8F8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8640" y="532180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200" kern="0" dirty="0">
                <a:solidFill>
                  <a:srgbClr val="2BD4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FLUXORA</a:t>
            </a:r>
            <a:endParaRPr lang="en-US" sz="2600" dirty="0"/>
          </a:p>
        </p:txBody>
      </p:sp>
      <p:sp>
        <p:nvSpPr>
          <p:cNvPr id="55" name="Text 53"/>
          <p:cNvSpPr/>
          <p:nvPr/>
        </p:nvSpPr>
        <p:spPr>
          <a:xfrm>
            <a:off x="548640" y="5769864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“Predict. Warn. Act.”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548640" y="6062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monsoon uncertainty to actionable flood intelligence.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548640" y="65288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F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FLUXORA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8899855" y="65288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5F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PREDICT.  WARN.  ACT.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638648" y="65288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2026-08-20T01:00:01Z</dcterms:created>
  <dcterms:modified xsi:type="dcterms:W3CDTF">2026-08-20T01:00:01Z</dcterms:modified>
</cp:coreProperties>
</file>